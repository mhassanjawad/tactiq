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122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0" y="640080"/>
            <a:ext cx="283464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822960"/>
            <a:ext cx="2286000" cy="1554480"/>
          </a:xfrm>
          <a:prstGeom prst="rect">
            <a:avLst/>
          </a:prstGeom>
          <a:solidFill>
            <a:srgbClr val="0830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822960"/>
            <a:ext cx="0" cy="15544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1143000"/>
            <a:ext cx="548640" cy="548640"/>
          </a:xfrm>
          <a:prstGeom prst="ellipse">
            <a:avLst/>
          </a:prstGeom>
          <a:solidFill>
            <a:srgbClr val="083028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96012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23444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96012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46304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18872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9601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4630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2344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9601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019556"/>
            <a:ext cx="182880" cy="214884"/>
          </a:xfrm>
          <a:prstGeom prst="line">
            <a:avLst/>
          </a:prstGeom>
          <a:noFill/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293876"/>
            <a:ext cx="228600" cy="-333756"/>
          </a:xfrm>
          <a:prstGeom prst="line">
            <a:avLst/>
          </a:prstGeom>
          <a:noFill/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606040"/>
            <a:ext cx="2560320" cy="1463040"/>
          </a:xfrm>
          <a:prstGeom prst="rect">
            <a:avLst/>
          </a:prstGeom>
          <a:solidFill>
            <a:srgbClr val="071A2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633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GNN → FAISS → RAG → Coaching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82512" y="301752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82512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Encode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729984" y="3191256"/>
            <a:ext cx="5486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4848" y="301752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8484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Retrieve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7132320" y="3191256"/>
            <a:ext cx="5486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87184" y="301752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87184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Rank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7534656" y="3191256"/>
            <a:ext cx="5486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01752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Advise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6576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RT-FSAS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3657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Graph-Indexed Tactical Retrieval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65760" y="16642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for Explainable Football Coaching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6576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Multimodal ML Framework Combining GNN, RAG &amp; LLMs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2633472"/>
            <a:ext cx="50292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88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Arshia Yaser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CMS: 459949</a:t>
            </a:r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   |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Muhammad Hassan Jawad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CMS: 469943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ML Research Proposal  •  2025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Why Current Football AI Falls Short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834640" cy="12344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8346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</a:rPr>
              <a:t>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80160" y="914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of match time is open play — no AI system adequately covers 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834640" cy="12344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834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875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51960" y="914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isolated research silos: GNN, RL, Forecasting, LLM — none unified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834640" cy="1234440"/>
          </a:xfrm>
          <a:prstGeom prst="rect">
            <a:avLst/>
          </a:prstGeom>
          <a:solidFill>
            <a:srgbClr val="112236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28346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875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223760" y="914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published systems with structural tactical memory for grounded coaching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40280"/>
            <a:ext cx="859536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🔎  CORE RESEARCH GAP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8595360" cy="86868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6334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 existing system retrieves and reasons over structurally similar historical tactical states to ground coaching advice. Structural models are not searchable. Retrieval systems are not structurally aware. Coaching LLMs lack formation-level grounding.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41148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122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🏗  Structural Modeling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822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TacticAI: great at corners, not searchable, no language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547872"/>
            <a:ext cx="41148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122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🎯  Decision Scoring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822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Offline RL: full 90 min coverage, no explainability layer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41148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122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📈  Outcome Forecasting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62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Transformer: real-time win probability, no tactical structure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4187952"/>
            <a:ext cx="41148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122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🤖  LLM Coaching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462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SportsGPT: text-only retrieval, no graph-indexed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Approach 1: TacticAI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Google DeepMind × Liverpool FC  •  Nature Communications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0352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3035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12064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TacticAI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① Each player = graph node  (x, y, velocity, role, height)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② Edges connect nearby players via relational topology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③ Graph Attention Network (GNN): multi-round message passing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④ Predictive head: estimates pass receiver likelihood per player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⑤ Generative head (diffusion model): produces repositioning suggestions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310896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822960"/>
            <a:ext cx="31089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822960"/>
            <a:ext cx="29260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Results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90%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coach preference over human-designed tactics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52160" y="1892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~8K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23760" y="18928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corner kicks in training dataset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2596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Near-random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596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expert ability to distinguish AI vs human tactics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LIMITATION  —  Set pieces only (~15% of play). No open play. No retrieval system. No natural 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Graph Neural Network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Message Passing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Diffusion Model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Geometric Equivariance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F4F8"/>
                </a:solidFill>
              </a:rPr>
              <a:t>Gap Contribution →  Structural modeling exists, but it is not searchable and not connected to open-play coaching advice.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Approach 2: Offline RL for Decision Quality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Rahimian et al.  •  Machine Learning (Springer)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0352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303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12064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① Trained exclusively on historical match event + tracking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② Simultaneously predicts next offensive &amp; defensive 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③ Estimates win probability at every minute of the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④ Computes Δ-Q: actual action Q-value vs optimal action Q-value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⑤ Uses Conservative Q-Learning (CQL) to prevent distributional shift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310896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822960"/>
            <a:ext cx="3108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822960"/>
            <a:ext cx="29260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Δ-Q Decision Quality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87%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action prediction accuracy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Example Output: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2267712"/>
            <a:ext cx="30175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28600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Expected: </a:t>
            </a:r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Pass backward
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Actual: </a:t>
            </a:r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Long ball forward
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Δ-Q: </a:t>
            </a:r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-0.18 (suboptimal)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LIMITATION  —  No structural formation reasoning. No similarity retrieval. No coaching explanation interface.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Conservative Q-Learning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Win Probability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Offline RL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Full 90-min Coverage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F4F8"/>
                </a:solidFill>
              </a:rPr>
              <a:t>Gap Contribution →  Decision optimality exists, but lacks structural context, coaching explanation, and natural language interface.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Approach 3: Transformer-Based In-Game Forecasting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Sabl &amp; Robberechts  •  arXiv:2511.18730  • 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0352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3035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12064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① Trained on 62,610 matches across 28 competitions (2016–2024)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B5FD"/>
                </a:solidFill>
              </a:rPr>
              <a:t>② Transformer self-attention captures long-range temporal dependencies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③ Real-time win/draw/loss probability updates every minute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④ Key event triggers: goals, red cards, half-time contextual updates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⑤ Multi-level outputs: game, team, and player probability levels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310896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822960"/>
            <a:ext cx="310896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822960"/>
            <a:ext cx="29260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&amp;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</a:rPr>
              <a:t>62,610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matches trained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892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</a:rPr>
              <a:t>28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23760" y="18928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competitions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596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</a:rPr>
              <a:t>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596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seasons (2016–2024)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LIMITATION  —  No tactical structure modeling. No formation reasoning. No actionable coaching advice beyond win probability.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B5FD"/>
                </a:solidFill>
              </a:rPr>
              <a:t>Transformer Architecture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B5FD"/>
                </a:solidFill>
              </a:rPr>
              <a:t>Self-Attention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B5FD"/>
                </a:solidFill>
              </a:rPr>
              <a:t>Temporal Modeling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B5FD"/>
                </a:solidFill>
              </a:rPr>
              <a:t>In-Game Forecasting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F4F8"/>
                </a:solidFill>
              </a:rPr>
              <a:t>Gap Contribution →  Outcome prediction exists, but lacks tactical structure encoding and explainable coaching suggestions.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Approach 4: SportsGPT — RAG-Based Coaching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ICLR 2025 Workshop on AI in Sports  •  Comendant, University of Twente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0352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30352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12064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How SportsGPT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① Match logs, training data, player stats uploaded to knowledge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② LLM interprets query → plans what evidence it needs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③ Dense embeddings encode documents for vector similarity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④ Top-k relevant documents retrieved from vector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⑤ LLM generates grounded coaching advice from retrieved context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3108960" cy="2606040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822960"/>
            <a:ext cx="31089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822960"/>
            <a:ext cx="29260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RAG-LLM vs Vanilla LLM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1527048"/>
            <a:ext cx="10058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527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Specific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1719072"/>
            <a:ext cx="1005840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6002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Vanilla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Vague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2176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Specific, measurable advice vs generic theoretical output.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RAG is non-negotiable for professional-grade coaching.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LIMITATION  —  Retrieval is text-based only. No graph-structured tactical embeddings. No structural similarity reasoning over formations.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Retrieval-Augmented Generation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Dense Embeddings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Agentic LLM Reasoning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F4F8"/>
                </a:solidFill>
              </a:rPr>
              <a:t>Gap Contribution →  Grounded language generation is proven effective, but retrieval lacks structural graph-based tactical awareness.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Analysis: Four SOTA Approaches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9202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Similarity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Coaching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18120" y="8229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822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Language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1325880"/>
            <a:ext cx="192024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325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TacticAI (2024)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32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18120" y="1325880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82880" y="1947672"/>
            <a:ext cx="192024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9476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Offline RL (2024)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8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46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89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32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75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818120" y="1947672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0" y="19476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82880" y="2569464"/>
            <a:ext cx="192024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2569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Transformer Forecast (2024)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246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389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532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675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0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818120" y="2569464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25694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82880" y="3191256"/>
            <a:ext cx="192024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3191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SportsGPT (2025)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103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48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246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389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34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</a:rPr>
              <a:t>Text only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532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675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0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818120" y="3191256"/>
            <a:ext cx="114300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0" y="31912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82880" y="3813048"/>
            <a:ext cx="192024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8130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RT-FSAS (Ours)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103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246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91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✅*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389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34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Graph-based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532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77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675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20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818120" y="3813048"/>
            <a:ext cx="1143000" cy="566928"/>
          </a:xfrm>
          <a:prstGeom prst="rect">
            <a:avLst/>
          </a:prstGeom>
          <a:solidFill>
            <a:srgbClr val="0A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63840" y="38130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* RT-FSAS simplifies RL to a lightweight Q-function approximator for the prototype; full CQL in future work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The Shared Missing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COMMON GAP ACROSS ALL FOUR SYSTEMS: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None retrieve and reason over structurally similar historical tactical states to ground coaching advice.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" y="1627632"/>
            <a:ext cx="146304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" y="162763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627632"/>
            <a:ext cx="173736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627632"/>
            <a:ext cx="178308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62763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 SOTA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1627632"/>
            <a:ext cx="173736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627632"/>
            <a:ext cx="20574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62763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" y="1901952"/>
            <a:ext cx="146304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" y="192024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Structural Representation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54480" y="1901952"/>
            <a:ext cx="173736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9202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TacticAI only handles corner kicks; open play has no equivalent graph model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1840" y="1901952"/>
            <a:ext cx="178308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920240"/>
            <a:ext cx="1709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GNN message passing on set piece graphs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74920" y="1901952"/>
            <a:ext cx="173736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19202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 open-play GNN system with searchable embeddings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901952"/>
            <a:ext cx="205740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920240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Extend GNN encoding to possession phases using StatsBomb tracking data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" y="2596896"/>
            <a:ext cx="146304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2615184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Similarity Retrieval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54480" y="2596896"/>
            <a:ext cx="173736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91056" y="2615184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No system retrieves historically similar tactical situations by graph structure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2596896"/>
            <a:ext cx="178308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615184"/>
            <a:ext cx="1709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SportsGPT: text-document retrieval via dense embeddings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2596896"/>
            <a:ext cx="173736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2615184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Retrieval is not formation-aware; text chunks miss spatial structure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2596896"/>
            <a:ext cx="20574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61518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Build FAISS index of GNN embeddings enabling structural similarity search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" y="3291840"/>
            <a:ext cx="146304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" y="331012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Coaching Explainability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54480" y="3291840"/>
            <a:ext cx="173736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91056" y="3310128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LLMs produce generic advice; RL Q-scores are hard to interpret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91840" y="3291840"/>
            <a:ext cx="178308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3310128"/>
            <a:ext cx="1709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SportsGPT RAG + Offline RL Δ-Q metric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74920" y="3291840"/>
            <a:ext cx="173736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11496" y="3310128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 system combines quantitative (Δ-Q) with qualitative (LLM) explainability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12280" y="3291840"/>
            <a:ext cx="205740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8856" y="3310128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Feed structured game state + retrieved situations into RAG-LLM for grounded advice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1440" y="3986784"/>
            <a:ext cx="146304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" y="40050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Open-Play Coverage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554480" y="3986784"/>
            <a:ext cx="173736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85% of match time lacks AI-supported tactical decision support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91840" y="3986784"/>
            <a:ext cx="178308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4005072"/>
            <a:ext cx="1709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8"/>
                </a:solidFill>
              </a:rPr>
              <a:t>Offline RL covers full 90 minutes but without structural formation analysis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74920" y="3986784"/>
            <a:ext cx="173736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11496" y="40050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 unified system covers open play with both structure and language output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12280" y="3986784"/>
            <a:ext cx="20574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48856" y="4005072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Full-match GNN encoding + retrieval pipeline targeting open-play coaching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Solution: RT-FSAS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Graph-Indexed Tactical Retrieval + RAG Coaching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54864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CORE IDEA:  Encode open-play tactical states as GNN embeddings → Index in FAISS vector database → Retrieve structurally similar historical situations → Ground LLM coaching advice in real tactical evidence.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114800" cy="1298448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44752"/>
            <a:ext cx="45720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49047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91B2"/>
                </a:solidFill>
              </a:rPr>
              <a:t>Game State Encoder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179222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Graph Attention Network (GATv2)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Converts live player positions/velocities/roles into a 256-dim tactical fingerprint embedding.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44752"/>
            <a:ext cx="4114800" cy="1298448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44752"/>
            <a:ext cx="45720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48072" y="149047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Situation Retrieval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48072" y="179222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FAISS Vector Index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48072" y="203911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Queries pre-built index of 50K+ historical GNN embeddings using cosine similarity to find top-k similar formations.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4114800" cy="1298448"/>
          </a:xfrm>
          <a:prstGeom prst="rect">
            <a:avLst/>
          </a:prstGeom>
          <a:solidFill>
            <a:srgbClr val="11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62072"/>
            <a:ext cx="457200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290779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Decision Quality Scorer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320954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Lightweight Q-Function MLP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345643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Approximates decision optimality — win probability trend + suboptimality signal as structured LLM context.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862072"/>
            <a:ext cx="4114800" cy="1298448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862072"/>
            <a:ext cx="457200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8072" y="290779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LLM Coaching Advisor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48072" y="320954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RAG-Augmented GPT-4o / Llama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48072" y="345643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Synthesizes game state + Q-delta + k similar situations into actionable natural-language coaching advice.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1920240"/>
            <a:ext cx="4572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337560"/>
            <a:ext cx="4572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525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NOVELTY:  Using graph embeddings as RAG retrieval keys is not in any prior work. This connects structural similarity search directly to grounded coaching language generation.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Implementation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28346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229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STEP 01  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StatsBomb Open Data (38 La Liga 2015/16 matches)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91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Player x, y coordinates + event type per timestamp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956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Team identity + role encoding per node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322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No video / no computer vision required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783080"/>
            <a:ext cx="15544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8229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22960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STEP 02  Graph Construction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Nodes = 22 players + ball at each event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64408" y="1591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Node features: (x, y, team_id, role_enc, velocity)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1956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Edges: distance-threshold or fully connected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64408" y="2322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Output: PyTorch Geometric Data object per snapshot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07608" y="1783080"/>
            <a:ext cx="15544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8229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822960"/>
            <a:ext cx="28346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8229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STEP 03  GNN Encoder Training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3-layer Graph Attention Network (GATv2)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4496" y="1591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Supervised on next-action prediction task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4496" y="1956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Output: 256-dim tactical fingerprint per snapshot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2322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Geometric equivariance encodes spatial priors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8803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880360"/>
            <a:ext cx="2834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8803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STEP 04  Vector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2826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Encode 50,000+ historical snapshots → embeddings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3648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FAISS flat index with cosine similarity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014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Metadata: match ID, minute, outcome, tactical label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379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Query: top-k nearest neighbors in embedding space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3840480"/>
            <a:ext cx="15544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72968" y="28803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288036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8803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05  RAG + LLM Coaching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64408" y="32826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Retrieve k=5 most similar historical states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64408" y="3648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Extract what happened next in each retrieved case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64408" y="4014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Feed: game state + Q-delta + retrieved situations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64408" y="4379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LLM (GPT-4o) generates structured coaching advice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07608" y="3840480"/>
            <a:ext cx="155448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63056" y="2880360"/>
            <a:ext cx="2834640" cy="1920240"/>
          </a:xfrm>
          <a:prstGeom prst="rect">
            <a:avLst/>
          </a:prstGeom>
          <a:solidFill>
            <a:srgbClr val="112236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2880360"/>
            <a:ext cx="28346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0360"/>
            <a:ext cx="2688336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06  Evaluation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54496" y="32826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Embedding quality: tactical cluster purity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54496" y="3648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Retrieval precision: expert tactical similarity ratings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54496" y="4014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Advice quality: human expert preference study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54496" y="4379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 Ablation: GNN-only vs RAG-only vs full system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Match Context:  Minute 67  •  Score 1–1  •  Opponent pressing high  •  Win probability dropping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834640" cy="1554480"/>
          </a:xfrm>
          <a:prstGeom prst="rect">
            <a:avLst/>
          </a:prstGeom>
          <a:solidFill>
            <a:srgbClr val="1A15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8346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070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⚡  Win Probability Monitor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Current: 47%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Trend: –6% over last 8 min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Alert: Negative trend detected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834640" cy="1554480"/>
          </a:xfrm>
          <a:prstGeom prst="rect">
            <a:avLst/>
          </a:prstGeom>
          <a:solidFill>
            <a:srgbClr val="1A050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8346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2070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🎯  Decision Quality Score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15727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Last 5 actions avg Δ-Q: –0.14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Below optimal threshold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Long balls consistently suboptimal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834640" cy="1554480"/>
          </a:xfrm>
          <a:prstGeom prst="rect">
            <a:avLst/>
          </a:prstGeom>
          <a:solidFill>
            <a:srgbClr val="0D0A1A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8346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2070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Retrieved Similar States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7648" y="15727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k=5 historical matches found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3 of 5 resolved with 4-3-3 → 4-2-3-1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Avg win prob improvement: +11%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8595360" cy="1508760"/>
          </a:xfrm>
          <a:prstGeom prst="rect">
            <a:avLst/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💬  LLM Coaching Advice  (RAG-grounded)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"Opponent is pressing your left channel aggressively. </a:t>
            </a:r>
            <a:pPr algn="l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Based on 47 structurally similar situations in our database,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switching to a double pivot (4-2-3-1) and instructing #8 to drop deeper </a:t>
            </a:r>
            <a:pPr algn="l"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improves ball retention by 23% and increases win probability by approximately 11%. </a:t>
            </a:r>
            <a:pPr algn="l" indent="0" marL="0">
              <a:buNone/>
            </a:pPr>
            <a:r>
              <a:rPr lang="en-US" sz="1250" i="1" dirty="0">
                <a:solidFill>
                  <a:srgbClr val="6EE7B7"/>
                </a:solidFill>
              </a:rPr>
              <a:t>Consider substituting #11 for a more defensive winger."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Contribution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Current systems specialize in one capability — none unify them: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0116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TacticAI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630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Structure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691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❌ Retrieval + Language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43000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Offline RL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4630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Decision Scoring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23744" y="1691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❌ Structure + Retrieval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201168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43000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Transformer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4630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Forecasting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0016" y="1691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❌ Structure + Coaching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1143000"/>
            <a:ext cx="201168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143000"/>
            <a:ext cx="20116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SportsGPT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4630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Language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76288" y="1691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❌ Graph Retrieval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212848"/>
            <a:ext cx="0" cy="22860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468880"/>
            <a:ext cx="8595360" cy="960120"/>
          </a:xfrm>
          <a:prstGeom prst="rect">
            <a:avLst/>
          </a:prstGeom>
          <a:solidFill>
            <a:srgbClr val="071A1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OUR CONTRIBUTION: RT-FSAS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79806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A graph-structured tactical retrieval system that uses GNN embeddings as RAG retrieval keys — connecting structural formation reasoning directly to grounded, explainable coaching advice. Addresses the shared missing layer across all four SOTA approaches.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Core ML Concepts: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858768"/>
            <a:ext cx="16459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Representation Learning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0" y="3858768"/>
            <a:ext cx="16459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Graph Neural Networks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49040" y="3858768"/>
            <a:ext cx="16459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Metric 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3858768"/>
            <a:ext cx="16459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Retrieval-Augmented Generation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23760" y="3858768"/>
            <a:ext cx="16459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Supervised Learning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References: Wang et al. (Nature Comms 2024)  •  Rahimian et al. (ML Springer 2024)  •  Sabl &amp; Robberechts (arXiv 2024)  •  SportsGPT (ICLR 2025)  •  StatsBomb Open Data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RT-FSAS: Graph-Indexed Tactical Retrieval for Football Coaching</dc:title>
  <dc:subject>PptxGenJS Presentation</dc:subject>
  <dc:creator>PptxGenJS</dc:creator>
  <cp:lastModifiedBy>PptxGenJS</cp:lastModifiedBy>
  <cp:revision>1</cp:revision>
  <dcterms:created xsi:type="dcterms:W3CDTF">2026-03-03T06:53:07Z</dcterms:created>
  <dcterms:modified xsi:type="dcterms:W3CDTF">2026-03-03T06:53:07Z</dcterms:modified>
</cp:coreProperties>
</file>